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5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228600" cy="669340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1" i="0">
                <a:solidFill>
                  <a:srgbClr val="E52A18"/>
                </a:solidFill>
                <a:latin typeface="Calibri"/>
              </a:rPr>
              <a:t>ОСНОВЫ ТЕХНОЛОГИИ РАБОТЫ ОАО «РЖД» • АДАПТАЦИОННАЯ ПРОГРАММА ДЛЯ МОЛОДЁЖИ</a:t>
            </a:r>
          </a:p>
          <a:p>
            <a:pPr algn="l">
              <a:spcAft>
                <a:spcPts val="1400"/>
              </a:spcAft>
            </a:pPr>
            <a:r>
              <a:rPr sz="4000" b="1" i="0">
                <a:solidFill>
                  <a:srgbClr val="002060"/>
                </a:solidFill>
                <a:latin typeface="Calibri"/>
              </a:rPr>
              <a:t>ОТР для молодёжи: технология работы и технологическое лидерство ОАО «РЖД»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95959"/>
                </a:solidFill>
                <a:latin typeface="Calibri"/>
              </a:rPr>
              <a:t>Студенты 5-го курса транспортных вузов • 4 академических часа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95959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  <a:latin typeface="Calibri"/>
              </a:rPr>
              <a:t>ОТР для молодёжи • ОАО «РЖД»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Программа сессии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5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95959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  <a:latin typeface="Calibri"/>
              </a:rPr>
              <a:t>ОТР для молодёжи • ОАО «РЖД»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"/>
            <a:ext cx="12" cy="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Открытие. Регламент и правила работы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Блок 0. РЖД: масштаб и технологическое лидерство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Блок 1. Инфраструктурный комплекс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Блок 2. Тяговый и нетяговый подвижной состав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Блок 3. Управление перевозками и движением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Блок 4. Взгляд за горизонт: РЖД — 2050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Викторина «Своя игра» (3 раунда, 45 минут)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Закрытие. Старт карьеры в ОАО «РЖД»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Архитектура программы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5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95959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  <a:latin typeface="Calibri"/>
              </a:rPr>
              <a:t>ОТР для молодёжи • ОАО «РЖД»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"/>
            <a:ext cx="12" cy="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ИНФРАСТРУКТУРНЫЙ КОМПЛЕКС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595959"/>
                </a:solidFill>
                <a:latin typeface="Calibri"/>
              </a:rPr>
              <a:t>– Путь, искусственные сооружения, путевые машины, электроснабжение, ЖАТ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ПОДВИЖНОЙ СОСТАВ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595959"/>
                </a:solidFill>
                <a:latin typeface="Calibri"/>
              </a:rPr>
              <a:t>– Тяга: локомотивы, серии, технология вождения • Вагоны и парк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УПРАВЛЕНИЕ ПЕРЕВОЗКАМИ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595959"/>
                </a:solidFill>
                <a:latin typeface="Calibri"/>
              </a:rPr>
              <a:t>– Станции, график движения, вагонопотоки, планирование, показатели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ВЗГЛЯД ЗА ГОРИЗОНТ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595959"/>
                </a:solidFill>
                <a:latin typeface="Calibri"/>
              </a:rPr>
              <a:t>– Образ будущего ОАО «РЖД» до 2050 года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E5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E52A18"/>
                </a:solidFill>
                <a:latin typeface="Calibri"/>
              </a:rPr>
              <a:t>БЛОК 0</a:t>
            </a:r>
          </a:p>
          <a:p>
            <a:pPr algn="l">
              <a:spcAft>
                <a:spcPts val="10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РЖД: масштаб и технологическое лидерство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EFF1F6"/>
                </a:solidFill>
                <a:latin typeface="Calibri"/>
              </a:rPr>
              <a:t>Цифры, которые впечатляют любого инженера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95959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  <a:latin typeface="Calibri"/>
              </a:rPr>
              <a:t>ОТР для молодёжи • ОАО «РЖД»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Холдинг «РЖД»: место в мире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5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95959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  <a:latin typeface="Calibri"/>
              </a:rPr>
              <a:t>ОТР для молодёжи • ОАО «РЖД»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"/>
            <a:ext cx="12" cy="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2-е место в мире по грузообороту (после Китая)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1-е место в мире по грузонапряжённости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1-е место по безопасности движения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1-е место по точности движения пассажирских поездов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1-е место по энергоэффективности грузовых перевозок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1-е место по защите окружающей среды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44,8% грузооборота и 27,1% пассажирооборота России — на инфраструктуре РЖД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Масштаб сети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5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95959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  <a:latin typeface="Calibri"/>
              </a:rPr>
              <a:t>ОТР для молодёжи • ОАО «РЖД»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"/>
            <a:ext cx="12" cy="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85,5 тыс. км — эксплуатационная длина железных дорог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44,3 тыс. км — электрифицированные линии (более половины сети)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12 058 локомотивов — в парке ОАО «РЖД» (+2 638 в компаниях холдинга)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159,3 тыс. грузовых вагонов и 16,98 тыс. пассажирских вагонов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3 075,3 млрд ткм — грузооборот в 2025 году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1 115,8 млн тонн — погружено в 2025 году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1 311,1 млн пассажиров перевезено в 2025 году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Результаты 2025 года (по данным годового отчёта и ИЗП)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5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95959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  <a:latin typeface="Calibri"/>
              </a:rPr>
              <a:t>ОТР для молодёжи • ОАО «РЖД»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3474720" cy="1920240"/>
          </a:xfrm>
          <a:prstGeom prst="rect">
            <a:avLst/>
          </a:prstGeom>
          <a:solidFill>
            <a:srgbClr val="EF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E52A18"/>
                </a:solidFill>
                <a:latin typeface="Calibri"/>
              </a:rPr>
              <a:t>494,5 км/сут</a:t>
            </a:r>
          </a:p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002060"/>
                </a:solidFill>
                <a:latin typeface="Calibri"/>
              </a:rPr>
              <a:t>Скорость доставки груженых отправок (+21,9% к 2024 г.)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371600"/>
            <a:ext cx="3474720" cy="1920240"/>
          </a:xfrm>
          <a:prstGeom prst="rect">
            <a:avLst/>
          </a:prstGeom>
          <a:solidFill>
            <a:srgbClr val="EF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E52A18"/>
                </a:solidFill>
                <a:latin typeface="Calibri"/>
              </a:rPr>
              <a:t>97,9%</a:t>
            </a:r>
          </a:p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002060"/>
                </a:solidFill>
                <a:latin typeface="Calibri"/>
              </a:rPr>
              <a:t>Грузов доставлено точно в срок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1371600"/>
            <a:ext cx="3474720" cy="1920240"/>
          </a:xfrm>
          <a:prstGeom prst="rect">
            <a:avLst/>
          </a:prstGeom>
          <a:solidFill>
            <a:srgbClr val="EF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E52A18"/>
                </a:solidFill>
                <a:latin typeface="Calibri"/>
              </a:rPr>
              <a:t>399</a:t>
            </a:r>
          </a:p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002060"/>
                </a:solidFill>
                <a:latin typeface="Calibri"/>
              </a:rPr>
              <a:t>Новых локомотивов закуплено (все российские)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566160"/>
            <a:ext cx="3474720" cy="1920240"/>
          </a:xfrm>
          <a:prstGeom prst="rect">
            <a:avLst/>
          </a:prstGeom>
          <a:solidFill>
            <a:srgbClr val="EF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E52A18"/>
                </a:solidFill>
                <a:latin typeface="Calibri"/>
              </a:rPr>
              <a:t>253,7 млрд ₽</a:t>
            </a:r>
          </a:p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002060"/>
                </a:solidFill>
                <a:latin typeface="Calibri"/>
              </a:rPr>
              <a:t>Инвестиции в обновление подвижного состава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3566160"/>
            <a:ext cx="3474720" cy="1920240"/>
          </a:xfrm>
          <a:prstGeom prst="rect">
            <a:avLst/>
          </a:prstGeom>
          <a:solidFill>
            <a:srgbClr val="EF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E52A18"/>
                </a:solidFill>
                <a:latin typeface="Calibri"/>
              </a:rPr>
              <a:t>37,9 тыс.</a:t>
            </a:r>
          </a:p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002060"/>
                </a:solidFill>
                <a:latin typeface="Calibri"/>
              </a:rPr>
              <a:t>Поездов массой 7,1 тыс. тонн проведено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3566160"/>
            <a:ext cx="3474720" cy="1920240"/>
          </a:xfrm>
          <a:prstGeom prst="rect">
            <a:avLst/>
          </a:prstGeom>
          <a:solidFill>
            <a:srgbClr val="EF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E52A18"/>
                </a:solidFill>
                <a:latin typeface="Calibri"/>
              </a:rPr>
              <a:t>88,8 тыс.</a:t>
            </a:r>
          </a:p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002060"/>
                </a:solidFill>
                <a:latin typeface="Calibri"/>
              </a:rPr>
              <a:t>Поездок по технологии «виртуальная сцепка»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E5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E52A18"/>
                </a:solidFill>
                <a:latin typeface="Calibri"/>
              </a:rPr>
              <a:t>БЛОК 1</a:t>
            </a:r>
          </a:p>
          <a:p>
            <a:pPr algn="l">
              <a:spcAft>
                <a:spcPts val="10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Инфраструктурный комплекс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EFF1F6"/>
                </a:solidFill>
                <a:latin typeface="Calibri"/>
              </a:rPr>
              <a:t>Путь • Искусственные сооружения • Путевые машины • Электроснабжение • ЖАТ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95959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  <a:latin typeface="Calibri"/>
              </a:rPr>
              <a:t>ОТР для молодёжи • ОАО «РЖД»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Проектирование и трассировка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5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95959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  <a:latin typeface="Calibri"/>
              </a:rPr>
              <a:t>ОТР для молодёжи • ОАО «РЖД»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"/>
            <a:ext cx="12" cy="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Трассировка — выбор положения линии на местности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Ключевое ограничение — продольный уклон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595959"/>
                </a:solidFill>
                <a:latin typeface="Calibri"/>
              </a:rPr>
              <a:t>– Максимально допустимый уклон на сети РФ — до 12 тысячных (12 м на км)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595959"/>
                </a:solidFill>
                <a:latin typeface="Calibri"/>
              </a:rPr>
              <a:t>– Поэтому линия «петляет» между высотами — серпантины БАМа и Транссиба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Баланс: длина обхода против уклона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595959"/>
                </a:solidFill>
                <a:latin typeface="Calibri"/>
              </a:rPr>
              <a:t>– Инженеры-строители и проектировщики решают эту оптимизационную задачу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Габариты — размеры имеют значение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5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95959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  <a:latin typeface="Calibri"/>
              </a:rPr>
              <a:t>ОТР для молодёжи • ОАО «РЖД»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"/>
            <a:ext cx="12" cy="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Три габарита: приближения строений, подвижного состава, погрузки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595959"/>
                </a:solidFill>
                <a:latin typeface="Calibri"/>
              </a:rPr>
              <a:t>– Между поездом и сооружениями всегда остаётся гарантированный зазор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Ширина колеи 1520 мм — российский стандарт (Россия, СНГ, Монголия, Финляндия)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595959"/>
                </a:solidFill>
                <a:latin typeface="Calibri"/>
              </a:rPr>
              <a:t>– 1435 мм — европейская стандартная колея (Китай, США, Европа)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595959"/>
                </a:solidFill>
                <a:latin typeface="Calibri"/>
              </a:rPr>
              <a:t>– 1668 мм — иберийская колея (Испания, Португалия)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595959"/>
                </a:solidFill>
                <a:latin typeface="Calibri"/>
              </a:rPr>
              <a:t>– Более широкая колея — больше устойчивость и грузоподъёмность вагонов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Верхнее строение пути: рельсы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5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95959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  <a:latin typeface="Calibri"/>
              </a:rPr>
              <a:t>ОТР для молодёжи • ОАО «РЖД»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"/>
            <a:ext cx="12" cy="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Рельс: головка • шейка • подошва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595959"/>
                </a:solidFill>
                <a:latin typeface="Calibri"/>
              </a:rPr>
              <a:t>– Задачи рельса: направлять колёса, воспринимать давление, передавать его на шпалы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595959"/>
                </a:solidFill>
                <a:latin typeface="Calibri"/>
              </a:rPr>
              <a:t>– Пропускать тяговый ток (рельсы — обратный провод)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Требования: прочность, твёрдость, вязкость, упругость, гладкость, жёсткость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Бесстыковой путь — сварные длинные плети без стыков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595959"/>
                </a:solidFill>
                <a:latin typeface="Calibri"/>
              </a:rPr>
              <a:t>– Убирает стыки — слабое место пути — и позволяет ездить быстрее и плавнее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595959"/>
                </a:solidFill>
                <a:latin typeface="Calibri"/>
              </a:rPr>
              <a:t>– Основа технологии высокоскоростного движения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Искусственные сооружения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5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95959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  <a:latin typeface="Calibri"/>
              </a:rPr>
              <a:t>ОТР для молодёжи • ОАО «РЖД»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"/>
            <a:ext cx="12" cy="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Мост • Виадук • Эстакада • Путепровод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Тоннель • Галерея • Подпорная стенка • Водопропускные трубы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595959"/>
                </a:solidFill>
                <a:latin typeface="Calibri"/>
              </a:rPr>
              <a:t>– Тоннели в горах зачастую дешевле глубоких выемок и длинных обходов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595959"/>
                </a:solidFill>
                <a:latin typeface="Calibri"/>
              </a:rPr>
              <a:t>– Галереи защищают путь от камнепадов и селевых потоков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Цифровые модели: 162 тоннеля и 22 моста оцифрованы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595959"/>
                </a:solidFill>
                <a:latin typeface="Calibri"/>
              </a:rPr>
              <a:t>– Обследование объектов — в 3 раза быстрее за счёт цифровизации и БПЛА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Путевые машины — техника для пути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5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95959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  <a:latin typeface="Calibri"/>
              </a:rPr>
              <a:t>ОТР для молодёжи • ОАО «РЖД»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"/>
            <a:ext cx="12" cy="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УК-25 — укладочный кран: перекладка рельсошпальной решётки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ЩОМ — щебнеочистительная машина: очистка балласта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ВПР — выправочно-подбивочно-рихтовочная машина: выравнивание пути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РШП — рельсошлифовальный поезд: профилировка рельсов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ПРСМ — передвижная рельсосварочная машина: сварка бесстыковых плетей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ВПО-С — уплотнение и отделка балластной призмы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Парк снегоуборочной техники — защита пути зимой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Инфраструктура: итоги 2025 года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5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95959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  <a:latin typeface="Calibri"/>
              </a:rPr>
              <a:t>ОТР для молодёжи • ОАО «РЖД»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3474720" cy="1920240"/>
          </a:xfrm>
          <a:prstGeom prst="rect">
            <a:avLst/>
          </a:prstGeom>
          <a:solidFill>
            <a:srgbClr val="EF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E52A18"/>
                </a:solidFill>
                <a:latin typeface="Calibri"/>
              </a:rPr>
              <a:t>4 249 км</a:t>
            </a:r>
          </a:p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002060"/>
                </a:solidFill>
                <a:latin typeface="Calibri"/>
              </a:rPr>
              <a:t>Пути оздоровлено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371600"/>
            <a:ext cx="3474720" cy="1920240"/>
          </a:xfrm>
          <a:prstGeom prst="rect">
            <a:avLst/>
          </a:prstGeom>
          <a:solidFill>
            <a:srgbClr val="EF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E52A18"/>
                </a:solidFill>
                <a:latin typeface="Calibri"/>
              </a:rPr>
              <a:t>164,5 км</a:t>
            </a:r>
          </a:p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002060"/>
                </a:solidFill>
                <a:latin typeface="Calibri"/>
              </a:rPr>
              <a:t>Новых линий построено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1371600"/>
            <a:ext cx="3474720" cy="1920240"/>
          </a:xfrm>
          <a:prstGeom prst="rect">
            <a:avLst/>
          </a:prstGeom>
          <a:solidFill>
            <a:srgbClr val="EF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E52A18"/>
                </a:solidFill>
                <a:latin typeface="Calibri"/>
              </a:rPr>
              <a:t>274 км</a:t>
            </a:r>
          </a:p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002060"/>
                </a:solidFill>
                <a:latin typeface="Calibri"/>
              </a:rPr>
              <a:t>Контактной сети модернизировано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566160"/>
            <a:ext cx="3474720" cy="1920240"/>
          </a:xfrm>
          <a:prstGeom prst="rect">
            <a:avLst/>
          </a:prstGeom>
          <a:solidFill>
            <a:srgbClr val="EF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E52A18"/>
                </a:solidFill>
                <a:latin typeface="Calibri"/>
              </a:rPr>
              <a:t>~190 млрд ₽</a:t>
            </a:r>
          </a:p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002060"/>
                </a:solidFill>
                <a:latin typeface="Calibri"/>
              </a:rPr>
              <a:t>Инвестиции в путевой комплекс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3566160"/>
            <a:ext cx="3474720" cy="1920240"/>
          </a:xfrm>
          <a:prstGeom prst="rect">
            <a:avLst/>
          </a:prstGeom>
          <a:solidFill>
            <a:srgbClr val="EF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E52A18"/>
                </a:solidFill>
                <a:latin typeface="Calibri"/>
              </a:rPr>
              <a:t>2,7 млрд ₽</a:t>
            </a:r>
          </a:p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002060"/>
                </a:solidFill>
                <a:latin typeface="Calibri"/>
              </a:rPr>
              <a:t>Обновление ЖАТ и двусторонняя автоблокировка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3566160"/>
            <a:ext cx="3474720" cy="1920240"/>
          </a:xfrm>
          <a:prstGeom prst="rect">
            <a:avLst/>
          </a:prstGeom>
          <a:solidFill>
            <a:srgbClr val="EF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E52A18"/>
                </a:solidFill>
                <a:latin typeface="Calibri"/>
              </a:rPr>
              <a:t>13,5 млрд ₽</a:t>
            </a:r>
          </a:p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002060"/>
                </a:solidFill>
                <a:latin typeface="Calibri"/>
              </a:rPr>
              <a:t>Инвестиции в электроснабжение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Электроснабжение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5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95959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  <a:latin typeface="Calibri"/>
              </a:rPr>
              <a:t>ОТР для молодёжи • ОАО «РЖД»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"/>
            <a:ext cx="12" cy="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Постоянный ток — 3000 В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Переменный ток — 25 000 В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595959"/>
                </a:solidFill>
                <a:latin typeface="Calibri"/>
              </a:rPr>
              <a:t>– Тяговая подстанция → контактная сеть → токоприёмник → локомотив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595959"/>
                </a:solidFill>
                <a:latin typeface="Calibri"/>
              </a:rPr>
              <a:t>– Контактный провод — специальное профилированное сечение, чтобы токоприёмник не сходил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Переменный ток позволяет передавать большую мощность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Железнодорожная автоматика и телемеханика (ЖАТ)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5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95959"/>
                </a:solidFill>
                <a:latin typeface="Calibr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  <a:latin typeface="Calibri"/>
              </a:rPr>
              <a:t>ОТР для молодёжи • ОАО «РЖД»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"/>
            <a:ext cx="12" cy="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На перегоне — автоблокировка: интервальное регулирование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595959"/>
                </a:solidFill>
                <a:latin typeface="Calibri"/>
              </a:rPr>
              <a:t>– Блок-участок позади поезда автоматически закрыт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На станции — электрическая централизация (ЭЦ): управление стрелками и сигналами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Светофоры — «язык» железной дороги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595959"/>
                </a:solidFill>
                <a:latin typeface="Calibri"/>
              </a:rPr>
              <a:t>– Красный — стой; жёлтый — разрешено с готовностью остановиться; зелёный — путь свободен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595959"/>
                </a:solidFill>
                <a:latin typeface="Calibri"/>
              </a:rPr>
              <a:t>– 2025: 2,7 млрд ₽ на обновление ЖАТ и внедрение двусторонней автоблокировки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E5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E52A18"/>
                </a:solidFill>
                <a:latin typeface="Calibri"/>
              </a:rPr>
              <a:t>БЛОК 2</a:t>
            </a:r>
          </a:p>
          <a:p>
            <a:pPr algn="l">
              <a:spcAft>
                <a:spcPts val="10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Тяговый и нетяговый подвижной состав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EFF1F6"/>
                </a:solidFill>
                <a:latin typeface="Calibri"/>
              </a:rPr>
              <a:t>Локомотивы • Вагоны • Локомотивное хозяйство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95959"/>
                </a:solidFill>
                <a:latin typeface="Calibr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  <a:latin typeface="Calibri"/>
              </a:rPr>
              <a:t>ОТР для молодёжи • ОАО «РЖД»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Классификация локомотивов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5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95959"/>
                </a:solidFill>
                <a:latin typeface="Calibri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  <a:latin typeface="Calibri"/>
              </a:rPr>
              <a:t>ОТР для молодёжи • ОАО «РЖД»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"/>
            <a:ext cx="12" cy="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По роду службы: грузовые, пассажирские, универсальные, маневровые, промышленные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По виду тяги: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595959"/>
                </a:solidFill>
                <a:latin typeface="Calibri"/>
              </a:rPr>
              <a:t>– Автономные (тепловозы — дизель + электропередача)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595959"/>
                </a:solidFill>
                <a:latin typeface="Calibri"/>
              </a:rPr>
              <a:t>– Неавтономные (электровозы — питание от контактной сети)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595959"/>
                </a:solidFill>
                <a:latin typeface="Calibri"/>
              </a:rPr>
              <a:t>– Комбинированные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Парк ОАО «РЖД»: 12 058 локомотивов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Расшифровка серий локомотивов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5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95959"/>
                </a:solidFill>
                <a:latin typeface="Calibri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  <a:latin typeface="Calibri"/>
              </a:rPr>
              <a:t>ОТР для молодёжи • ОАО «РЖД»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"/>
            <a:ext cx="12" cy="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2ТЭ10 — грузовой тепловоз, 2 секции, модель 10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ТЭП70 — пассажирский тепловоз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ВЛ80 — грузовой электровоз переменного тока («Владимир Ленин»)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ЭП1 — пассажирский электровоз переменного тока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2ЭС5К «Ермак» — грузовой электровоз переменного тока, 2 секции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3ЭС8 «Малахит» — грузовой электровоз постоянного тока с асинхронным двигателем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ТЭМ18 — маневровый тепловоз; 2ЭС4К «Дончак» — грузовой электровоз постоянного тока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Технология вождения поездов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5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95959"/>
                </a:solidFill>
                <a:latin typeface="Calibri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  <a:latin typeface="Calibri"/>
              </a:rPr>
              <a:t>ОТР для молодёжи • ОАО «РЖД»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"/>
            <a:ext cx="12" cy="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Один локомотив в голове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Кратная тяга — несколько локомотивов в голове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Подталкивающий локомотив в хвосте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Система многих единиц (СМЕ)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Сдвоенный поезд с распределённой тягой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Тяжеловесное движение: поезда до 7,1 тыс. тонн (Восточный полигон)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595959"/>
                </a:solidFill>
                <a:latin typeface="Calibri"/>
              </a:rPr>
              <a:t>– 2025: 37,9 тыс. поездов массой 7,1 тыс. т (+20,2%)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«Виртуальная сцепка» — технология будущего уже сегодня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5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95959"/>
                </a:solidFill>
                <a:latin typeface="Calibri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  <a:latin typeface="Calibri"/>
              </a:rPr>
              <a:t>ОТР для молодёжи • ОАО «РЖД»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"/>
            <a:ext cx="12" cy="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Два и более поездов следуют вплотную как единая система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Увеличение пропускной способности — до 15 дополнительных пар поездов в сутки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Повышение безопасности движения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Оптимизация труда локомотивных бригад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Рост участковой скорости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2025: 88,8 тыс. поездок (+17,1% к 2024 г.)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Нетяговый подвижной состав: вагоны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5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95959"/>
                </a:solidFill>
                <a:latin typeface="Calibri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  <a:latin typeface="Calibri"/>
              </a:rPr>
              <a:t>ОТР для молодёжи • ОАО «РЖД»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"/>
            <a:ext cx="12" cy="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Типы грузовых вагонов: полувагоны, цистерны, платформы, фитинговые платформы, крытые, зерновозы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595959"/>
                </a:solidFill>
                <a:latin typeface="Calibri"/>
              </a:rPr>
              <a:t>– Полувагон — основной тип парка (уголь)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Парк операторов РФ — около 1,41 млн грузовых вагонов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595959"/>
                </a:solidFill>
                <a:latin typeface="Calibri"/>
              </a:rPr>
              <a:t>– В парке ОАО «РЖД» — 159,3 тыс. грузовых вагонов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Пассажирских вагонов — 16,98 тыс.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Специальные поезда: путеизмеритель, дефектоскоп, восстановительные, пожарные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595959"/>
                </a:solidFill>
                <a:latin typeface="Calibri"/>
              </a:rPr>
              <a:t>– «Интеллектуальный осмотр вагонов» — компьютерное зрение в контроле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Локомотивное хозяйство: депо и ремонт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5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95959"/>
                </a:solidFill>
                <a:latin typeface="Calibri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  <a:latin typeface="Calibri"/>
              </a:rPr>
              <a:t>ОТР для молодёжи • ОАО «РЖД»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"/>
            <a:ext cx="12" cy="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Депо: электровозные, тепловозные, моторвагонные, смешанные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Ремонт по пробегам: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595959"/>
                </a:solidFill>
                <a:latin typeface="Calibri"/>
              </a:rPr>
              <a:t>– ТР-1 — 25–50 тыс. км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595959"/>
                </a:solidFill>
                <a:latin typeface="Calibri"/>
              </a:rPr>
              <a:t>– ТР-2 — 180–200 тыс. км; ТР-3 — 360–600 тыс. км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595959"/>
                </a:solidFill>
                <a:latin typeface="Calibri"/>
              </a:rPr>
              <a:t>– Средний (СР) и капитальный (КР) — 1 800 и 5 400 тыс. км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Плечи обслуживания: локомотивные бригады сменяются, как экипажи в авиации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595959"/>
                </a:solidFill>
                <a:latin typeface="Calibri"/>
              </a:rPr>
              <a:t>– Здесь начинается практика молодых специалистов-тяговиков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E5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E52A18"/>
                </a:solidFill>
                <a:latin typeface="Calibri"/>
              </a:rPr>
              <a:t>БЛОК 3</a:t>
            </a:r>
          </a:p>
          <a:p>
            <a:pPr algn="l">
              <a:spcAft>
                <a:spcPts val="10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Управление перевозками и движением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EFF1F6"/>
                </a:solidFill>
                <a:latin typeface="Calibri"/>
              </a:rPr>
              <a:t>Станции • График движения • Вагонопотоки • Планирование • Показатели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95959"/>
                </a:solidFill>
                <a:latin typeface="Calibri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  <a:latin typeface="Calibri"/>
              </a:rPr>
              <a:t>ОТР для молодёжи • ОАО «РЖД»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Раздельные пункты и станции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5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95959"/>
                </a:solidFill>
                <a:latin typeface="Calibri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  <a:latin typeface="Calibri"/>
              </a:rPr>
              <a:t>ОТР для молодёжи • ОАО «РЖД»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"/>
            <a:ext cx="12" cy="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Перегон — участок между раздельными пунктами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595959"/>
                </a:solidFill>
                <a:latin typeface="Calibri"/>
              </a:rPr>
              <a:t>– Раздельные пункты без путевого развития: разъезды, обгонные пункты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595959"/>
                </a:solidFill>
                <a:latin typeface="Calibri"/>
              </a:rPr>
              <a:t>– С раздельным развитием: станции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Типы станций: промежуточные, участковые, сортировочные, пассажирские, грузовые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Сортировочная станция — «фабрика» расформирования составов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595959"/>
                </a:solidFill>
                <a:latin typeface="Calibri"/>
              </a:rPr>
              <a:t>– Сортировочная горка: вагоны спускаются по отцепам на пути по назначениям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График движения поездов (ГДП)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5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95959"/>
                </a:solidFill>
                <a:latin typeface="Calibri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  <a:latin typeface="Calibri"/>
              </a:rPr>
              <a:t>ОТР для молодёжи • ОАО «РЖД»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"/>
            <a:ext cx="12" cy="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Поездной распорядок всей сети — нитки движения каждого поезда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595959"/>
                </a:solidFill>
                <a:latin typeface="Calibri"/>
              </a:rPr>
              <a:t>– Увязывает работу локомотивов, бригад и станций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Гарантированный интервал: автоблокировка закрывает блок-участок позади поезда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595959"/>
                </a:solidFill>
                <a:latin typeface="Calibri"/>
              </a:rPr>
              <a:t>– Почему поезда не сталкиваются, даже если впереди идущий встал?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595959"/>
                </a:solidFill>
                <a:latin typeface="Calibri"/>
              </a:rPr>
              <a:t>– Потому что сигнал за ним — красный, интервал гарантирован системой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Баланс пропускной способности и скорости движения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Организация вагонопотоков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5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95959"/>
                </a:solidFill>
                <a:latin typeface="Calibri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  <a:latin typeface="Calibri"/>
              </a:rPr>
              <a:t>ОТР для молодёжи • ОАО «РЖД»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"/>
            <a:ext cx="12" cy="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План формирования поездов — из вагонов каких назначений формируются составы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595959"/>
                </a:solidFill>
                <a:latin typeface="Calibri"/>
              </a:rPr>
              <a:t>– Гружёные вагоны объединяются в группы попутного следования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595959"/>
                </a:solidFill>
                <a:latin typeface="Calibri"/>
              </a:rPr>
              <a:t>– На сортировочных станциях составы переформировываются, вагоны добавляются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Движенцы сравнивают: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595959"/>
                </a:solidFill>
                <a:latin typeface="Calibri"/>
              </a:rPr>
              <a:t>– Экономию от проследования станции без переработки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595959"/>
                </a:solidFill>
                <a:latin typeface="Calibri"/>
              </a:rPr>
              <a:t>– Затраты на накопление состава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595959"/>
                </a:solidFill>
                <a:latin typeface="Calibri"/>
              </a:rPr>
              <a:t>– Меньшая величина определяет маршрут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Уровни оперативного планирования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5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95959"/>
                </a:solidFill>
                <a:latin typeface="Calibri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  <a:latin typeface="Calibri"/>
              </a:rPr>
              <a:t>ОТР для молодёжи • ОАО «РЖД»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"/>
            <a:ext cx="12" cy="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ДС — линейный уровень (станция)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Д — дорожный уровень (железная дорога)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П — полигонный уровень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ЦД — сетевой уровень (Центральная дирекция управления движением)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Текущее планирование: трёхчасовые периоды, прогноз на 6 часов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Сменно-суточное планирование: 12-часовые периоды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Качественные показатели работы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5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95959"/>
                </a:solidFill>
                <a:latin typeface="Calibri"/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  <a:latin typeface="Calibri"/>
              </a:rPr>
              <a:t>ОТР для молодёжи • ОАО «РЖД»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"/>
            <a:ext cx="12" cy="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Оборот вагона — время полного цикла от погрузки до погрузки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Участковая и техническая скорость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Рейс вагона, среднесуточный пробег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Производительность вагона и локомотива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Коэффициент порожнего пробега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595959"/>
                </a:solidFill>
                <a:latin typeface="Calibri"/>
              </a:rPr>
              <a:t>– 2025: 193 тыс. порожних вагонов исключено из процесса; скорость доставки — 494,5 км/сут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E5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E52A18"/>
                </a:solidFill>
                <a:latin typeface="Calibri"/>
              </a:rPr>
              <a:t>БЛОК 4</a:t>
            </a:r>
          </a:p>
          <a:p>
            <a:pPr algn="l">
              <a:spcAft>
                <a:spcPts val="10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Взгляд за горизонт: РЖД — 2050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EFF1F6"/>
                </a:solidFill>
                <a:latin typeface="Calibri"/>
              </a:rPr>
              <a:t>Форсайт научно-технологического развития холдинга «РЖД»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95959"/>
                </a:solidFill>
                <a:latin typeface="Calibri"/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  <a:latin typeface="Calibri"/>
              </a:rPr>
              <a:t>ОТР для молодёжи • ОАО «РЖД»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Три горизонта технологического развития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5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95959"/>
                </a:solidFill>
                <a:latin typeface="Calibri"/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  <a:latin typeface="Calibri"/>
              </a:rPr>
              <a:t>ОТР для молодёжи • ОАО «РЖД»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"/>
            <a:ext cx="12" cy="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ДО 2030 — Автоматизированное управление перевозочным процессом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595959"/>
                </a:solidFill>
                <a:latin typeface="Calibri"/>
              </a:rPr>
              <a:t>– ВСМ, мультимодальные транспортно-логистические хабы, BIM-технологии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2031–2040 — Единое цифровое транспортное пространство: платформенная интеграция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595959"/>
                </a:solidFill>
                <a:latin typeface="Calibri"/>
              </a:rPr>
              <a:t>– Высокоскоростной подвижной состав &gt;320 км/ч, автономное управление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2041–2050 — Цифровой двойник перевозочного процесса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595959"/>
                </a:solidFill>
                <a:latin typeface="Calibri"/>
              </a:rPr>
              <a:t>– Новые транспортные системы (маглев), цифровые двойники подвижного состава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Будущее управления перевозочным процессом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5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95959"/>
                </a:solidFill>
                <a:latin typeface="Calibri"/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  <a:latin typeface="Calibri"/>
              </a:rPr>
              <a:t>ОТР для молодёжи • ОАО «РЖД»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"/>
            <a:ext cx="12" cy="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От реагирования — к предвидению: мониторинг и прогнозирование событий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595959"/>
                </a:solidFill>
                <a:latin typeface="Calibri"/>
              </a:rPr>
              <a:t>– Цифровой двойник перевозочного процесса к 2050 году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Беспилотное ведение поездов, «безлюдные» технологии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595959"/>
                </a:solidFill>
                <a:latin typeface="Calibri"/>
              </a:rPr>
              <a:t>– Снижение человеческого фактора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Уже сегодня: беспилотные электропоезда на МЦК — уровень УА4 (без машиниста)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595959"/>
                </a:solidFill>
                <a:latin typeface="Calibri"/>
              </a:rPr>
              <a:t>– «Ласточки» с компьютерным зрением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595959"/>
                </a:solidFill>
                <a:latin typeface="Calibri"/>
              </a:rPr>
              <a:t>– Сильный искусственный интеллект, квантовые коммуникации (7 858 км сети)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Будущее подвижного состава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5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95959"/>
                </a:solidFill>
                <a:latin typeface="Calibri"/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  <a:latin typeface="Calibri"/>
              </a:rPr>
              <a:t>ОТР для молодёжи • ОАО «РЖД»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"/>
            <a:ext cx="12" cy="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Высокоскоростные поезда &gt;320 км/ч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595959"/>
                </a:solidFill>
                <a:latin typeface="Calibri"/>
              </a:rPr>
              <a:t>– Первый российский ВСМ-поезд для линии Москва — Санкт-Петербург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595959"/>
                </a:solidFill>
                <a:latin typeface="Calibri"/>
              </a:rPr>
              <a:t>– 8 вагонов, 452 пассажира, схема «8+8», 4 класса обслуживания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595959"/>
                </a:solidFill>
                <a:latin typeface="Calibri"/>
              </a:rPr>
              <a:t>– Разработка: &gt;500 инженеров, 150 российских компаний, завод «Уральские локомотивы»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Альтернативные источники энергии: водород, аккумуляторы, гибриды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Интеллектуальные системы мониторинга ресурса и цифровые двойники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Аддитивное производство — 3D-печать запчастей прямо в депо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Тяжеловесный подвижной состав с нагрузкой на ось выше 27 тонн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Будущее инфраструктурного комплекса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5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95959"/>
                </a:solidFill>
                <a:latin typeface="Calibri"/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  <a:latin typeface="Calibri"/>
              </a:rPr>
              <a:t>ОТР для молодёжи • ОАО «РЖД»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"/>
            <a:ext cx="12" cy="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Безбалластный путь и новые материалы: композиты, керамика, «умные» материалы с самовосстановлением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«Умные» энергетические сети, частично генерирующие энергию, беспроводная передача энергии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Мониторинг всех объектов в реальном времени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Роботизированные системы обслуживания и ремонта (ТОиР)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BIM-технологии проектирования и обязательные цифровые двойники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Перспектива: магнитолевитационные и вакуумно-левитационные транспортные системы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5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228600" cy="669340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E52A18"/>
                </a:solidFill>
                <a:latin typeface="Calibri"/>
              </a:rPr>
              <a:t>ФИНАЛ СЕССИИ</a:t>
            </a:r>
          </a:p>
          <a:p>
            <a:pPr algn="l">
              <a:spcAft>
                <a:spcPts val="1200"/>
              </a:spcAft>
            </a:pPr>
            <a:r>
              <a:rPr sz="4400" b="1" i="0">
                <a:solidFill>
                  <a:srgbClr val="002060"/>
                </a:solidFill>
                <a:latin typeface="Calibri"/>
              </a:rPr>
              <a:t>Своя игра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595959"/>
                </a:solidFill>
                <a:latin typeface="Calibri"/>
              </a:rPr>
              <a:t>3 раунда • 4 категории • 45 минут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95959"/>
                </a:solidFill>
                <a:latin typeface="Calibri"/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  <a:latin typeface="Calibri"/>
              </a:rPr>
              <a:t>ОТР для молодёжи • ОАО «РЖД»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Правила викторины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5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95959"/>
                </a:solidFill>
                <a:latin typeface="Calibri"/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  <a:latin typeface="Calibri"/>
              </a:rPr>
              <a:t>ОТР для молодёжи • ОАО «РЖД»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"/>
            <a:ext cx="12" cy="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Раунд 1 — «Инфраструктурный комплекс»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Раунд 2 — «Управление перевозками»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Раунд 3 — «Локомотивное хозяйство и подвижной состав» + категория «Разная»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Командный формат: ответы на бланках после сигнала ведущего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Стоимость вопросов: 10 / 20 / 30 баллов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Промежуточные результаты после 2-го раунда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Побеждает команда с наибольшей суммой баллов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E5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 i="0">
                <a:solidFill>
                  <a:srgbClr val="E52A18"/>
                </a:solidFill>
                <a:latin typeface="Calibri"/>
              </a:rPr>
              <a:t>НАШ КОД. МЫ — ЛЮДИ ДЕЛА</a:t>
            </a:r>
          </a:p>
          <a:p>
            <a:pPr algn="l">
              <a:spcAft>
                <a:spcPts val="12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Старт карьеры в ОАО «РЖД»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EFF1F6"/>
                </a:solidFill>
                <a:latin typeface="Calibri"/>
              </a:rPr>
              <a:t>Наставничество и поддержка на первом месте работы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EFF1F6"/>
                </a:solidFill>
                <a:latin typeface="Calibri"/>
              </a:rPr>
              <a:t>Корпоративное обучение и программы развития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EFF1F6"/>
                </a:solidFill>
                <a:latin typeface="Calibri"/>
              </a:rPr>
              <a:t>Чемпионат профессионалов РЖД и конкурсы мастерства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EFF1F6"/>
                </a:solidFill>
                <a:latin typeface="Calibri"/>
              </a:rPr>
              <a:t>Программы для молодых специалистов и социальные гарантии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95959"/>
                </a:solidFill>
                <a:latin typeface="Calibri"/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  <a:latin typeface="Calibri"/>
              </a:rPr>
              <a:t>ОТР для молодёжи • ОАО «РЖД»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